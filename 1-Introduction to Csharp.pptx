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334" r:id="rId4"/>
    <p:sldId id="335" r:id="rId5"/>
    <p:sldId id="340" r:id="rId6"/>
    <p:sldId id="336" r:id="rId7"/>
    <p:sldId id="341" r:id="rId8"/>
    <p:sldId id="342" r:id="rId9"/>
    <p:sldId id="337" r:id="rId10"/>
    <p:sldId id="338" r:id="rId11"/>
    <p:sldId id="343" r:id="rId12"/>
    <p:sldId id="344" r:id="rId13"/>
    <p:sldId id="345" r:id="rId14"/>
    <p:sldId id="346" r:id="rId15"/>
    <p:sldId id="333" r:id="rId16"/>
    <p:sldId id="329" r:id="rId17"/>
    <p:sldId id="271" r:id="rId18"/>
    <p:sldId id="270" r:id="rId19"/>
    <p:sldId id="266" r:id="rId20"/>
    <p:sldId id="274" r:id="rId21"/>
    <p:sldId id="275" r:id="rId22"/>
    <p:sldId id="298" r:id="rId23"/>
    <p:sldId id="276" r:id="rId24"/>
    <p:sldId id="268" r:id="rId25"/>
    <p:sldId id="277" r:id="rId26"/>
    <p:sldId id="269" r:id="rId27"/>
    <p:sldId id="278" r:id="rId28"/>
    <p:sldId id="283" r:id="rId29"/>
    <p:sldId id="322" r:id="rId30"/>
    <p:sldId id="313" r:id="rId31"/>
    <p:sldId id="286" r:id="rId32"/>
    <p:sldId id="287" r:id="rId33"/>
    <p:sldId id="289" r:id="rId34"/>
    <p:sldId id="288" r:id="rId35"/>
    <p:sldId id="299" r:id="rId36"/>
    <p:sldId id="317" r:id="rId37"/>
    <p:sldId id="318" r:id="rId38"/>
    <p:sldId id="319" r:id="rId39"/>
    <p:sldId id="284" r:id="rId40"/>
    <p:sldId id="285" r:id="rId41"/>
    <p:sldId id="290" r:id="rId42"/>
    <p:sldId id="307" r:id="rId43"/>
    <p:sldId id="295" r:id="rId44"/>
    <p:sldId id="291" r:id="rId45"/>
    <p:sldId id="296" r:id="rId46"/>
    <p:sldId id="300" r:id="rId47"/>
    <p:sldId id="301" r:id="rId48"/>
    <p:sldId id="303" r:id="rId49"/>
    <p:sldId id="311" r:id="rId50"/>
    <p:sldId id="308" r:id="rId51"/>
    <p:sldId id="302" r:id="rId52"/>
    <p:sldId id="309" r:id="rId53"/>
    <p:sldId id="310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runkuma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339966"/>
    <a:srgbClr val="33CC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9-09-14T11:48:56.234" idx="1">
    <p:pos x="3774" y="2756"/>
    <p:text>American Stanandard Code for Information Interchange.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480A5-ADFA-4914-BDDD-1C0326731C7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12851-430D-4C26-A1FD-978E5D40C57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12851-430D-4C26-A1FD-978E5D40C57F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12851-430D-4C26-A1FD-978E5D40C57F}" type="slidenum">
              <a:rPr lang="en-US" smtClean="0"/>
              <a:t>43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just">
              <a:defRPr sz="2600" b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983163"/>
          </a:xfrm>
        </p:spPr>
        <p:txBody>
          <a:bodyPr/>
          <a:lstStyle>
            <a:lvl1pPr algn="just">
              <a:defRPr sz="2200" b="0">
                <a:latin typeface="+mj-lt"/>
              </a:defRPr>
            </a:lvl1pPr>
            <a:lvl2pPr algn="just">
              <a:defRPr sz="1900" b="0">
                <a:latin typeface="+mj-lt"/>
              </a:defRPr>
            </a:lvl2pPr>
            <a:lvl3pPr algn="just">
              <a:defRPr sz="1700" b="0">
                <a:latin typeface="+mj-lt"/>
              </a:defRPr>
            </a:lvl3pPr>
            <a:lvl4pPr algn="just">
              <a:defRPr sz="1500" b="0">
                <a:latin typeface="+mj-lt"/>
              </a:defRPr>
            </a:lvl4pPr>
            <a:lvl5pPr algn="just">
              <a:defRPr sz="1400"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EFEB6-7BA6-4F2B-9B9D-14D43BD07850}" type="datetimeFigureOut">
              <a:rPr lang="en-US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E872B-1A9B-4D0A-853A-1D6A4FAB742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2994D-35D0-4861-9A49-613C6D4340DD}" type="datetimeFigureOut">
              <a:rPr lang="en-US"/>
              <a:t>6/12/2026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D12A-BAB7-4F94-9574-382F8AE3E01D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1524C-425E-482F-A0C6-1D76C45B4FF5}" type="datetimeFigureOut">
              <a:rPr lang="en-US"/>
              <a:t>6/12/2026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C0AA5-F908-4823-8DF7-4923D4CE7F30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5CC0-68E8-4EEB-8B01-BF6F58B971F8}" type="datetimeFigureOut">
              <a:rPr lang="en-US"/>
              <a:t>6/12/2026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F21E9-F300-4875-BADA-B5D945E31F0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77F36-AB49-459D-A641-2CCD96CA385E}" type="datetimeFigureOut">
              <a:rPr lang="en-US"/>
              <a:t>6/12/2026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761CC-5A3C-4B53-A536-8DCD3AB805EC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D0221-BA04-451B-8652-31EDBB1F7977}" type="datetimeFigureOut">
              <a:rPr lang="en-US"/>
              <a:t>6/12/2026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7BCD-A57E-4BC0-A3CB-80F23297A25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31AD1-4995-42FD-9F39-F14A606CC550}" type="datetimeFigureOut">
              <a:rPr lang="en-US"/>
              <a:t>6/12/2026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EAF33-F282-4978-A46B-DA4627C6E9D2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66F96-314E-4655-89E2-BB42E000598E}" type="datetimeFigureOut">
              <a:rPr lang="en-US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B306B-2C4E-4309-926F-0EFDBA723E6D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41DFD-6FA9-47B6-844C-44A8DE5A5A89}" type="datetimeFigureOut">
              <a:rPr lang="en-US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A591-BB09-4397-80C4-4E3A4529A4E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447298-B64A-4B1E-AB8A-C385224337E5}" type="datetimeFigureOut">
              <a:rPr lang="en-US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Trapezoid 6"/>
          <p:cNvSpPr/>
          <p:nvPr userDrawn="1"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rapezoid 7"/>
          <p:cNvSpPr/>
          <p:nvPr userDrawn="1"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Trapezoid 12"/>
          <p:cNvSpPr/>
          <p:nvPr userDrawn="1"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Trapezoid 13"/>
          <p:cNvSpPr/>
          <p:nvPr userDrawn="1"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43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0"/>
            <a:ext cx="6096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 kern="1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9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6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C# .NET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C#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12837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It Was developed by the Microsoft Corporation.</a:t>
            </a:r>
          </a:p>
          <a:p>
            <a:r>
              <a:rPr lang="en-US" sz="2400" dirty="0"/>
              <a:t>It is high level programming language.</a:t>
            </a:r>
          </a:p>
          <a:p>
            <a:r>
              <a:rPr lang="en-US" sz="2400" dirty="0"/>
              <a:t>It is an object-oriented programming language.</a:t>
            </a:r>
          </a:p>
          <a:p>
            <a:r>
              <a:rPr lang="en-US" sz="2400" dirty="0"/>
              <a:t>It is case sensitive programming language.</a:t>
            </a:r>
          </a:p>
          <a:p>
            <a:r>
              <a:rPr lang="en-US" sz="2400" dirty="0"/>
              <a:t>It extension .cs.</a:t>
            </a:r>
          </a:p>
          <a:p>
            <a:r>
              <a:rPr lang="en-US" sz="2400" dirty="0"/>
              <a:t>It is a very easy programming language.</a:t>
            </a:r>
          </a:p>
          <a:p>
            <a:r>
              <a:rPr lang="en-US" sz="2400" dirty="0"/>
              <a:t>It belongs to C family.</a:t>
            </a:r>
          </a:p>
          <a:p>
            <a:r>
              <a:rPr lang="en-US" sz="2400" dirty="0"/>
              <a:t>It is used to develop various types applications.</a:t>
            </a:r>
          </a:p>
          <a:p>
            <a:r>
              <a:rPr lang="en-US" sz="2400" dirty="0"/>
              <a:t>Console,Windows,Web and Mobile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A8FAC8-9253-DF95-A44C-7CF1D4825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5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Keywords</a:t>
            </a:r>
            <a:endParaRPr lang="en-IN" sz="5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9CD4441-DAE8-7E70-4946-4A84071E72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52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D6CC-9011-FE89-1CE0-0A19BC9D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keywords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2C5A6-1399-85B1-3A20-F9646AB12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C#  we use predefined keywords which have some meaning in the program , they can’t be used as variables names, class names, methods names.</a:t>
            </a:r>
          </a:p>
          <a:p>
            <a:r>
              <a:rPr lang="en-IN" dirty="0"/>
              <a:t>Bool   byte   char decimal</a:t>
            </a:r>
          </a:p>
          <a:p>
            <a:r>
              <a:rPr lang="en-IN" dirty="0"/>
              <a:t>Double float  int long</a:t>
            </a:r>
          </a:p>
          <a:p>
            <a:r>
              <a:rPr lang="en-IN" dirty="0"/>
              <a:t>Object  </a:t>
            </a:r>
            <a:r>
              <a:rPr lang="en-IN" dirty="0" err="1"/>
              <a:t>sbyte</a:t>
            </a:r>
            <a:r>
              <a:rPr lang="en-IN" dirty="0"/>
              <a:t> short</a:t>
            </a:r>
          </a:p>
          <a:p>
            <a:r>
              <a:rPr lang="en-IN" dirty="0"/>
              <a:t>String </a:t>
            </a:r>
            <a:r>
              <a:rPr lang="en-IN" dirty="0" err="1"/>
              <a:t>uint</a:t>
            </a:r>
            <a:r>
              <a:rPr lang="en-IN" dirty="0"/>
              <a:t> </a:t>
            </a:r>
            <a:r>
              <a:rPr lang="en-IN" dirty="0" err="1"/>
              <a:t>ulong</a:t>
            </a:r>
            <a:r>
              <a:rPr lang="en-IN" dirty="0"/>
              <a:t> </a:t>
            </a:r>
            <a:r>
              <a:rPr lang="en-IN" dirty="0" err="1"/>
              <a:t>ushort</a:t>
            </a:r>
            <a:endParaRPr lang="en-IN" dirty="0"/>
          </a:p>
          <a:p>
            <a:r>
              <a:rPr lang="en-IN" dirty="0"/>
              <a:t>Void dynamic </a:t>
            </a:r>
            <a:r>
              <a:rPr lang="en-IN" dirty="0" err="1"/>
              <a:t>nint</a:t>
            </a:r>
            <a:r>
              <a:rPr lang="en-IN" dirty="0"/>
              <a:t> </a:t>
            </a:r>
            <a:r>
              <a:rPr lang="en-IN" dirty="0" err="1"/>
              <a:t>nuint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572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B457-5865-616A-3483-49F87371B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and Object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5EBE2-4C4B-2201-64E7-E2FE7F21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  <a:p>
            <a:r>
              <a:rPr lang="en-US" dirty="0"/>
              <a:t>struct</a:t>
            </a:r>
          </a:p>
          <a:p>
            <a:r>
              <a:rPr lang="en-US" dirty="0"/>
              <a:t>interface</a:t>
            </a:r>
          </a:p>
          <a:p>
            <a:r>
              <a:rPr lang="en-US" dirty="0" err="1"/>
              <a:t>enum</a:t>
            </a:r>
            <a:endParaRPr lang="en-US" dirty="0"/>
          </a:p>
          <a:p>
            <a:r>
              <a:rPr lang="en-US" dirty="0"/>
              <a:t>record</a:t>
            </a:r>
          </a:p>
          <a:p>
            <a:r>
              <a:rPr lang="en-US" dirty="0"/>
              <a:t>new</a:t>
            </a:r>
          </a:p>
          <a:p>
            <a:r>
              <a:rPr lang="en-US" dirty="0"/>
              <a:t>this</a:t>
            </a:r>
          </a:p>
          <a:p>
            <a:r>
              <a:rPr lang="en-US" dirty="0"/>
              <a:t>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10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D4CD-B833-70D7-C05F-022D36C7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and Property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AEABF-914C-A38C-B771-AFC44471F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</a:t>
            </a:r>
          </a:p>
          <a:p>
            <a:r>
              <a:rPr lang="en-US" dirty="0"/>
              <a:t>override</a:t>
            </a:r>
          </a:p>
          <a:p>
            <a:r>
              <a:rPr lang="en-US" dirty="0"/>
              <a:t>abstract</a:t>
            </a:r>
          </a:p>
          <a:p>
            <a:r>
              <a:rPr lang="en-US" dirty="0"/>
              <a:t>sealed</a:t>
            </a:r>
          </a:p>
          <a:p>
            <a:r>
              <a:rPr lang="en-US" dirty="0"/>
              <a:t>static</a:t>
            </a:r>
          </a:p>
          <a:p>
            <a:r>
              <a:rPr lang="en-US" dirty="0" err="1"/>
              <a:t>readonly</a:t>
            </a:r>
            <a:endParaRPr lang="en-US" dirty="0"/>
          </a:p>
          <a:p>
            <a:r>
              <a:rPr lang="en-US" dirty="0"/>
              <a:t>const</a:t>
            </a:r>
          </a:p>
          <a:p>
            <a:r>
              <a:rPr lang="en-US" dirty="0"/>
              <a:t>extern</a:t>
            </a:r>
          </a:p>
          <a:p>
            <a:r>
              <a:rPr lang="en-US" dirty="0"/>
              <a:t>partial</a:t>
            </a:r>
          </a:p>
          <a:p>
            <a:r>
              <a:rPr lang="en-US" dirty="0"/>
              <a:t>async</a:t>
            </a:r>
          </a:p>
          <a:p>
            <a:r>
              <a:rPr lang="en-US" dirty="0"/>
              <a:t>await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6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FCC5-812B-F666-7E57-BED9B4DD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Handling Keywords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20FFA-B892-CB7E-69C5-951641495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try</a:t>
            </a:r>
          </a:p>
          <a:p>
            <a:r>
              <a:rPr lang="en-IN" dirty="0"/>
              <a:t>catch</a:t>
            </a:r>
          </a:p>
          <a:p>
            <a:r>
              <a:rPr lang="en-IN" dirty="0"/>
              <a:t>finally</a:t>
            </a:r>
          </a:p>
          <a:p>
            <a:r>
              <a:rPr lang="en-IN" dirty="0"/>
              <a:t>Throw</a:t>
            </a:r>
          </a:p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Miscellaneous Keywords</a:t>
            </a:r>
          </a:p>
          <a:p>
            <a:r>
              <a:rPr lang="en-IN" dirty="0"/>
              <a:t>operator</a:t>
            </a:r>
          </a:p>
          <a:p>
            <a:r>
              <a:rPr lang="en-IN" dirty="0"/>
              <a:t>implicit</a:t>
            </a:r>
          </a:p>
          <a:p>
            <a:r>
              <a:rPr lang="en-IN" dirty="0"/>
              <a:t>explicit</a:t>
            </a:r>
          </a:p>
          <a:p>
            <a:r>
              <a:rPr lang="en-IN" dirty="0"/>
              <a:t>delegate</a:t>
            </a:r>
          </a:p>
          <a:p>
            <a:r>
              <a:rPr lang="en-IN" dirty="0"/>
              <a:t>event</a:t>
            </a:r>
          </a:p>
          <a:p>
            <a:r>
              <a:rPr lang="en-IN" dirty="0"/>
              <a:t>Lock Fixed unsafe </a:t>
            </a:r>
            <a:r>
              <a:rPr lang="en-IN" dirty="0" err="1"/>
              <a:t>stackalloc</a:t>
            </a:r>
            <a:r>
              <a:rPr lang="en-IN" dirty="0"/>
              <a:t> volatile</a:t>
            </a:r>
          </a:p>
          <a:p>
            <a:r>
              <a:rPr lang="en-IN" dirty="0"/>
              <a:t>Default null true false</a:t>
            </a:r>
          </a:p>
        </p:txBody>
      </p:sp>
    </p:spTree>
    <p:extLst>
      <p:ext uri="{BB962C8B-B14F-4D97-AF65-F5344CB8AC3E}">
        <p14:creationId xmlns:p14="http://schemas.microsoft.com/office/powerpoint/2010/main" val="153569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BBEC-8595-670C-C672-950A5527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246CB-E7F9-16BC-70AC-F4E47038C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namespace</a:t>
            </a:r>
          </a:p>
          <a:p>
            <a:r>
              <a:rPr lang="en-IN" dirty="0"/>
              <a:t>using</a:t>
            </a:r>
          </a:p>
          <a:p>
            <a:r>
              <a:rPr lang="en-IN" dirty="0"/>
              <a:t>Global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Parameter Keywords</a:t>
            </a:r>
          </a:p>
          <a:p>
            <a:r>
              <a:rPr lang="en-IN" dirty="0"/>
              <a:t>ref</a:t>
            </a:r>
          </a:p>
          <a:p>
            <a:r>
              <a:rPr lang="en-IN" dirty="0"/>
              <a:t>out</a:t>
            </a:r>
          </a:p>
          <a:p>
            <a:r>
              <a:rPr lang="en-IN" dirty="0"/>
              <a:t>in</a:t>
            </a:r>
          </a:p>
          <a:p>
            <a:r>
              <a:rPr lang="en-IN" dirty="0"/>
              <a:t>params</a:t>
            </a:r>
          </a:p>
        </p:txBody>
      </p:sp>
    </p:spTree>
    <p:extLst>
      <p:ext uri="{BB962C8B-B14F-4D97-AF65-F5344CB8AC3E}">
        <p14:creationId xmlns:p14="http://schemas.microsoft.com/office/powerpoint/2010/main" val="271175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DFA4-EEA3-E21F-2A99-4DB42940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Flow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FF3CA-F2AD-9E6F-A814-6CC3F1272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switch</a:t>
            </a:r>
          </a:p>
          <a:p>
            <a:r>
              <a:rPr lang="en-US" dirty="0"/>
              <a:t>case</a:t>
            </a:r>
          </a:p>
          <a:p>
            <a:r>
              <a:rPr lang="en-US" dirty="0"/>
              <a:t>default</a:t>
            </a:r>
          </a:p>
          <a:p>
            <a:r>
              <a:rPr lang="en-US" dirty="0"/>
              <a:t>for</a:t>
            </a:r>
          </a:p>
          <a:p>
            <a:r>
              <a:rPr lang="en-US" dirty="0"/>
              <a:t>foreach</a:t>
            </a:r>
          </a:p>
          <a:p>
            <a:r>
              <a:rPr lang="en-US" dirty="0"/>
              <a:t>while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continue</a:t>
            </a:r>
          </a:p>
          <a:p>
            <a:r>
              <a:rPr lang="en-US" dirty="0"/>
              <a:t>Goto return yield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276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64F5-57DA-CD34-CAEB-9D4D3C01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B2AB-074A-B743-2D91-C3FE3EC54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</a:t>
            </a:r>
          </a:p>
          <a:p>
            <a:r>
              <a:rPr lang="en-US" dirty="0"/>
              <a:t>as</a:t>
            </a:r>
          </a:p>
          <a:p>
            <a:r>
              <a:rPr lang="en-US" dirty="0" err="1"/>
              <a:t>typeof</a:t>
            </a:r>
            <a:endParaRPr lang="en-US" dirty="0"/>
          </a:p>
          <a:p>
            <a:r>
              <a:rPr lang="en-US" dirty="0" err="1"/>
              <a:t>sizeof</a:t>
            </a:r>
            <a:endParaRPr lang="en-US" dirty="0"/>
          </a:p>
          <a:p>
            <a:r>
              <a:rPr lang="en-US" dirty="0"/>
              <a:t>checked</a:t>
            </a:r>
          </a:p>
          <a:p>
            <a:r>
              <a:rPr lang="en-US" dirty="0"/>
              <a:t>unchecked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366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F2036-95FD-E10C-A868-1EF33FFC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2814D-95F7-3511-4AA2-5AF60A422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Identifier refers to variables name, methods names, class names, namespace names , </a:t>
            </a:r>
            <a:r>
              <a:rPr lang="en-US" dirty="0" err="1"/>
              <a:t>enum</a:t>
            </a:r>
            <a:r>
              <a:rPr lang="en-US" dirty="0"/>
              <a:t> names, Structure names.</a:t>
            </a:r>
          </a:p>
          <a:p>
            <a:r>
              <a:rPr lang="en-US" dirty="0"/>
              <a:t>We can’t use predefined keywords of C# , because they have some meaning the program.</a:t>
            </a:r>
          </a:p>
          <a:p>
            <a:r>
              <a:rPr lang="en-US" dirty="0"/>
              <a:t>We can give our names which will have some </a:t>
            </a:r>
            <a:r>
              <a:rPr lang="en-US" dirty="0" err="1"/>
              <a:t>meaing</a:t>
            </a:r>
            <a:r>
              <a:rPr lang="en-US" dirty="0"/>
              <a:t>.</a:t>
            </a:r>
          </a:p>
          <a:p>
            <a:r>
              <a:rPr lang="en-US" dirty="0"/>
              <a:t>These variables names or methods name or class names or namespace   must follow naming convention.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06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9A14-C143-D079-BA3C-4384C07D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conventions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4D480-E062-CC45-3C52-6DA212F4D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There are three types  naming conventions</a:t>
            </a:r>
          </a:p>
          <a:p>
            <a:pPr lvl="1"/>
            <a:r>
              <a:rPr lang="en-US" sz="2800" dirty="0"/>
              <a:t>Pascal case Naming convention</a:t>
            </a:r>
          </a:p>
          <a:p>
            <a:pPr lvl="1"/>
            <a:r>
              <a:rPr lang="en-US" sz="2800" dirty="0"/>
              <a:t>Camel Case naming convention</a:t>
            </a:r>
          </a:p>
          <a:p>
            <a:pPr lvl="1"/>
            <a:r>
              <a:rPr lang="en-US" sz="2800" dirty="0"/>
              <a:t>Snake Case naming convention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9531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32D0-EFB5-B772-723F-419CF4BC7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Pascal Case Naming Convention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EEF07-C482-ED8E-8990-FB31A0B25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Pascal case naming convention is convention in which first letter starts with Capital and Rest letters can be Lower Case , when new Words starts Again Upper case  and then lower case.</a:t>
            </a:r>
          </a:p>
          <a:p>
            <a:r>
              <a:rPr lang="en-US" sz="2400" dirty="0"/>
              <a:t>This naming convention can be used for </a:t>
            </a:r>
          </a:p>
          <a:p>
            <a:pPr lvl="1"/>
            <a:r>
              <a:rPr lang="en-US" sz="2400" dirty="0"/>
              <a:t>Classe names</a:t>
            </a:r>
          </a:p>
          <a:p>
            <a:pPr lvl="1"/>
            <a:r>
              <a:rPr lang="en-US" sz="2400" dirty="0"/>
              <a:t>Methods names</a:t>
            </a:r>
          </a:p>
          <a:p>
            <a:pPr lvl="1"/>
            <a:r>
              <a:rPr lang="en-US" sz="2400" dirty="0"/>
              <a:t>Namespace Names</a:t>
            </a:r>
          </a:p>
          <a:p>
            <a:pPr lvl="1"/>
            <a:r>
              <a:rPr lang="en-US" sz="2400" dirty="0"/>
              <a:t>Structure Names</a:t>
            </a:r>
          </a:p>
          <a:p>
            <a:pPr lvl="1"/>
            <a:r>
              <a:rPr lang="en-US" sz="2400" dirty="0"/>
              <a:t>Property Names</a:t>
            </a:r>
          </a:p>
          <a:p>
            <a:r>
              <a:rPr lang="en-US" sz="2400" dirty="0"/>
              <a:t>Examples :</a:t>
            </a:r>
          </a:p>
          <a:p>
            <a:pPr lvl="1"/>
            <a:r>
              <a:rPr lang="en-US" sz="2400" b="1" dirty="0" err="1"/>
              <a:t>FirstClass</a:t>
            </a:r>
            <a:r>
              <a:rPr lang="en-US" sz="2400" b="1" dirty="0"/>
              <a:t>  , </a:t>
            </a:r>
            <a:r>
              <a:rPr lang="en-US" sz="2400" b="1" dirty="0" err="1"/>
              <a:t>MyClass</a:t>
            </a:r>
            <a:r>
              <a:rPr lang="en-US" sz="2400" b="1" dirty="0"/>
              <a:t> , </a:t>
            </a:r>
            <a:r>
              <a:rPr lang="en-US" sz="2400" b="1" dirty="0" err="1"/>
              <a:t>MySystem</a:t>
            </a:r>
            <a:endParaRPr lang="en-US" sz="2400" b="1" dirty="0"/>
          </a:p>
          <a:p>
            <a:pPr marL="457200" lvl="1" indent="0">
              <a:buNone/>
            </a:pPr>
            <a:endParaRPr lang="en-US" sz="2400" dirty="0"/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9056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F567-15A7-3853-2ED3-6071AB45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Camel Case and Snake Case Naming convention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EF0AD-7505-1356-C5B7-7F7BD08A1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dirty="0"/>
              <a:t>This naming convention can be applied for only variables names.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string </a:t>
            </a:r>
            <a:r>
              <a:rPr lang="en-US" sz="2800" dirty="0" err="1"/>
              <a:t>firstName</a:t>
            </a:r>
            <a:r>
              <a:rPr lang="en-US" sz="2800" dirty="0"/>
              <a:t>; // camel case</a:t>
            </a:r>
          </a:p>
          <a:p>
            <a:pPr algn="l"/>
            <a:r>
              <a:rPr lang="en-US" sz="2800" dirty="0"/>
              <a:t>String </a:t>
            </a:r>
            <a:r>
              <a:rPr lang="en-US" sz="2800" dirty="0" err="1"/>
              <a:t>first_name</a:t>
            </a:r>
            <a:r>
              <a:rPr lang="en-US" sz="2800" dirty="0"/>
              <a:t>; // snake case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06394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C# Program Structure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28600" y="1265237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Predefined Namespaces</a:t>
            </a:r>
          </a:p>
          <a:p>
            <a:pPr>
              <a:buNone/>
            </a:pPr>
            <a:r>
              <a:rPr lang="en-US" dirty="0"/>
              <a:t>User defined  Namespace</a:t>
            </a:r>
          </a:p>
          <a:p>
            <a:pPr>
              <a:buNone/>
            </a:pPr>
            <a:r>
              <a:rPr lang="en-US" dirty="0"/>
              <a:t> 	Class Declaration</a:t>
            </a:r>
          </a:p>
          <a:p>
            <a:pPr>
              <a:buNone/>
            </a:pPr>
            <a:r>
              <a:rPr lang="en-US" dirty="0"/>
              <a:t>		Data types</a:t>
            </a:r>
          </a:p>
          <a:p>
            <a:pPr>
              <a:buNone/>
            </a:pPr>
            <a:r>
              <a:rPr lang="en-US" dirty="0"/>
              <a:t>		Methods.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Structure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Namespace</a:t>
            </a:r>
          </a:p>
          <a:p>
            <a:pPr>
              <a:buNone/>
            </a:pPr>
            <a:r>
              <a:rPr lang="en-US" sz="2400" dirty="0"/>
              <a:t>	It is set of classes,interfaces,enumerations,deligates etc….</a:t>
            </a:r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Class</a:t>
            </a:r>
          </a:p>
          <a:p>
            <a:pPr>
              <a:buNone/>
            </a:pPr>
            <a:r>
              <a:rPr lang="en-US" sz="2400" dirty="0"/>
              <a:t>	It is the collection of datatypes and methods.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609600"/>
          </a:xfrm>
        </p:spPr>
        <p:txBody>
          <a:bodyPr>
            <a:noAutofit/>
          </a:bodyPr>
          <a:lstStyle/>
          <a:p>
            <a:r>
              <a:rPr lang="en-US" sz="3600" dirty="0"/>
              <a:t>C# Program Structure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5791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33CC"/>
                </a:solidFill>
              </a:rPr>
              <a:t>using</a:t>
            </a:r>
            <a:r>
              <a:rPr lang="en-US" sz="2000" b="1" dirty="0"/>
              <a:t> System;</a:t>
            </a:r>
          </a:p>
          <a:p>
            <a:pPr>
              <a:buNone/>
            </a:pPr>
            <a:r>
              <a:rPr lang="en-US" sz="2000" b="1" dirty="0">
                <a:solidFill>
                  <a:srgbClr val="0033CC"/>
                </a:solidFill>
              </a:rPr>
              <a:t>using</a:t>
            </a:r>
            <a:r>
              <a:rPr lang="en-US" sz="2000" b="1" dirty="0"/>
              <a:t> System.Collections.Generic;</a:t>
            </a:r>
          </a:p>
          <a:p>
            <a:pPr>
              <a:buNone/>
            </a:pPr>
            <a:r>
              <a:rPr lang="en-US" sz="2000" b="1" dirty="0">
                <a:solidFill>
                  <a:srgbClr val="0033CC"/>
                </a:solidFill>
              </a:rPr>
              <a:t>using</a:t>
            </a:r>
            <a:r>
              <a:rPr lang="en-US" sz="2000" b="1" dirty="0"/>
              <a:t> System.Linq;</a:t>
            </a:r>
          </a:p>
          <a:p>
            <a:pPr>
              <a:buNone/>
            </a:pPr>
            <a:r>
              <a:rPr lang="en-US" sz="2000" b="1" dirty="0">
                <a:solidFill>
                  <a:srgbClr val="0033CC"/>
                </a:solidFill>
              </a:rPr>
              <a:t>using</a:t>
            </a:r>
            <a:r>
              <a:rPr lang="en-US" sz="2000" b="1" dirty="0"/>
              <a:t> System.Text;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0033CC"/>
                </a:solidFill>
              </a:rPr>
              <a:t>namespace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Test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/>
              <a:t>{</a:t>
            </a:r>
          </a:p>
          <a:p>
            <a:pPr>
              <a:buNone/>
            </a:pPr>
            <a:r>
              <a:rPr lang="en-US" sz="2000" b="1" dirty="0"/>
              <a:t>    class </a:t>
            </a:r>
            <a:r>
              <a:rPr lang="en-US" sz="2000" b="1" dirty="0">
                <a:solidFill>
                  <a:srgbClr val="339966"/>
                </a:solidFill>
              </a:rPr>
              <a:t>Program   </a:t>
            </a:r>
          </a:p>
          <a:p>
            <a:pPr>
              <a:buNone/>
            </a:pPr>
            <a:r>
              <a:rPr lang="en-US" sz="2000" b="1" dirty="0"/>
              <a:t>    {</a:t>
            </a:r>
          </a:p>
          <a:p>
            <a:pPr>
              <a:buNone/>
            </a:pPr>
            <a:r>
              <a:rPr lang="en-US" sz="2000" b="1" dirty="0"/>
              <a:t>        </a:t>
            </a:r>
            <a:r>
              <a:rPr lang="en-US" sz="2000" b="1" dirty="0">
                <a:solidFill>
                  <a:srgbClr val="0033CC"/>
                </a:solidFill>
              </a:rPr>
              <a:t>static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33CC"/>
                </a:solidFill>
              </a:rPr>
              <a:t>void</a:t>
            </a:r>
            <a:r>
              <a:rPr lang="en-US" sz="2000" b="1" dirty="0"/>
              <a:t> Main(string[] args)</a:t>
            </a:r>
          </a:p>
          <a:p>
            <a:pPr>
              <a:buNone/>
            </a:pPr>
            <a:r>
              <a:rPr lang="en-US" sz="2000" b="1" dirty="0"/>
              <a:t>        {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        }</a:t>
            </a:r>
          </a:p>
          <a:p>
            <a:pPr>
              <a:buNone/>
            </a:pPr>
            <a:r>
              <a:rPr lang="en-US" sz="2000" b="1" dirty="0"/>
              <a:t>    }</a:t>
            </a:r>
          </a:p>
          <a:p>
            <a:pPr>
              <a:buNone/>
            </a:pPr>
            <a:r>
              <a:rPr lang="en-US" sz="2000" b="1" dirty="0"/>
              <a:t>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990600"/>
            <a:ext cx="3810000" cy="1676400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Arrow Connector 27"/>
          <p:cNvCxnSpPr>
            <a:stCxn id="27" idx="3"/>
          </p:cNvCxnSpPr>
          <p:nvPr/>
        </p:nvCxnSpPr>
        <p:spPr>
          <a:xfrm>
            <a:off x="4191000" y="1828800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537542" y="1676400"/>
            <a:ext cx="2451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Predefined Namespaces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09600" y="2819400"/>
            <a:ext cx="1752600" cy="381000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362200" y="2971800"/>
            <a:ext cx="2971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638800" y="2819400"/>
            <a:ext cx="25358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User defined Namespace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09600" y="3276600"/>
            <a:ext cx="1752600" cy="304800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438400" y="3452336"/>
            <a:ext cx="2971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715000" y="3288268"/>
            <a:ext cx="178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 Declaration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90600" y="3962400"/>
            <a:ext cx="3200400" cy="381000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4267200" y="4191000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410200" y="4050268"/>
            <a:ext cx="938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Method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752600" y="4507468"/>
            <a:ext cx="167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Document Area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/>
      <p:bldP spid="34" grpId="0" animBg="1"/>
      <p:bldP spid="36" grpId="0"/>
      <p:bldP spid="37" grpId="0" animBg="1"/>
      <p:bldP spid="39" grpId="0"/>
      <p:bldP spid="40" grpId="0" animBg="1"/>
      <p:bldP spid="42" grpId="0"/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How to develop a program in C#?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Open the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Code the program using C#.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Execute using Ctrl+F5.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These Steps will be repeated for all the programs.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Visual Studio Introduction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It is an IDE(Integrated Development Environment).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It is used develop  software , web and Mobile applications.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It is Introduced by Microsoft.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In order to work with any project in Visual Studio tool we need know about Solution Explorer and Server Explorer 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Solution Explorer in which project and its respect files can be added.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Sever Explorer in which Databases can deal the with the DataBases.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685800"/>
          </a:xfrm>
        </p:spPr>
        <p:txBody>
          <a:bodyPr>
            <a:normAutofit/>
          </a:bodyPr>
          <a:lstStyle/>
          <a:p>
            <a:r>
              <a:rPr lang="en-US" sz="2800" dirty="0"/>
              <a:t>Creating new project in VS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143000"/>
            <a:ext cx="7543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/>
              <a:t>Creating new project in VS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65200"/>
            <a:ext cx="76200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/>
              <a:t>Creating new project in VS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0585" y="1066800"/>
            <a:ext cx="758283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2" y="838200"/>
            <a:ext cx="7619998" cy="5270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Creating new project in VS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743200"/>
            <a:ext cx="762000" cy="2286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43200" y="2819400"/>
            <a:ext cx="3352800" cy="396838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133600" y="5715000"/>
            <a:ext cx="3429000" cy="23810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rot="5400000" flipH="1" flipV="1">
            <a:off x="1562894" y="2094706"/>
            <a:ext cx="12954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221638" y="1382474"/>
            <a:ext cx="2388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Programming language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8482" y="2923106"/>
            <a:ext cx="1780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Application 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5736171"/>
            <a:ext cx="1894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Application Name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019800" y="3140038"/>
            <a:ext cx="533400" cy="116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562600" y="5876903"/>
            <a:ext cx="7620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9" grpId="0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Coding new program in VS</a:t>
            </a:r>
          </a:p>
        </p:txBody>
      </p:sp>
      <p:sp>
        <p:nvSpPr>
          <p:cNvPr id="4" name="Rectangle 3"/>
          <p:cNvSpPr/>
          <p:nvPr/>
        </p:nvSpPr>
        <p:spPr>
          <a:xfrm>
            <a:off x="8763000" y="1828800"/>
            <a:ext cx="381000" cy="91440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144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Coding new program in VS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447800"/>
            <a:ext cx="1752600" cy="182880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rot="10800000">
            <a:off x="1981200" y="5029200"/>
            <a:ext cx="13716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5040868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Document Area where work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675677"/>
            <a:ext cx="29718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Solution Explorer in which,</a:t>
            </a:r>
          </a:p>
          <a:p>
            <a:r>
              <a:rPr lang="en-US" b="1" dirty="0">
                <a:solidFill>
                  <a:srgbClr val="002060"/>
                </a:solidFill>
              </a:rPr>
              <a:t> we Add Files to the project,  </a:t>
            </a:r>
          </a:p>
          <a:p>
            <a:r>
              <a:rPr lang="en-US" b="1" dirty="0">
                <a:solidFill>
                  <a:srgbClr val="002060"/>
                </a:solidFill>
              </a:rPr>
              <a:t>all the files which are present project will be seen here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5400000">
            <a:off x="7392194" y="3504406"/>
            <a:ext cx="457200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9144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Coding new program in 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486870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press CTRL + F5 </a:t>
            </a:r>
          </a:p>
          <a:p>
            <a:r>
              <a:rPr lang="en-US" b="1" dirty="0"/>
              <a:t>        	To</a:t>
            </a:r>
          </a:p>
          <a:p>
            <a:r>
              <a:rPr lang="en-US" b="1" dirty="0"/>
              <a:t> Execute the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4791670"/>
            <a:ext cx="3200400" cy="389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112391" y="3516868"/>
            <a:ext cx="2338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After writing the code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88392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Coding new program in VS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9600"/>
            <a:ext cx="36576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05400" y="953869"/>
            <a:ext cx="34665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After Executing the project We get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out 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 Types in C#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4525963"/>
          </a:xfrm>
        </p:spPr>
        <p:txBody>
          <a:bodyPr numCol="2">
            <a:noAutofit/>
          </a:bodyPr>
          <a:lstStyle/>
          <a:p>
            <a:r>
              <a:rPr lang="en-US" sz="2400" dirty="0"/>
              <a:t>char		1 byte	</a:t>
            </a:r>
          </a:p>
          <a:p>
            <a:r>
              <a:rPr lang="en-US" sz="2400" dirty="0"/>
              <a:t>int		4 byte	</a:t>
            </a:r>
          </a:p>
          <a:p>
            <a:r>
              <a:rPr lang="en-US" sz="2400" dirty="0"/>
              <a:t>float		4 byte	</a:t>
            </a:r>
          </a:p>
          <a:p>
            <a:r>
              <a:rPr lang="en-US" sz="2400" dirty="0"/>
              <a:t>double	8 byte	</a:t>
            </a:r>
          </a:p>
          <a:p>
            <a:r>
              <a:rPr lang="en-US" sz="2400" dirty="0"/>
              <a:t>decimal	16 byte	 </a:t>
            </a:r>
          </a:p>
          <a:p>
            <a:r>
              <a:rPr lang="en-US" sz="2400" dirty="0"/>
              <a:t>String</a:t>
            </a:r>
          </a:p>
          <a:p>
            <a:r>
              <a:rPr lang="en-US" sz="2400" dirty="0"/>
              <a:t>Class</a:t>
            </a:r>
          </a:p>
          <a:p>
            <a:r>
              <a:rPr lang="en-US" sz="2400" dirty="0"/>
              <a:t>Bool -     1byte</a:t>
            </a:r>
          </a:p>
          <a:p>
            <a:r>
              <a:rPr lang="en-US" sz="2400" dirty="0"/>
              <a:t>Byte  -    1byte</a:t>
            </a:r>
          </a:p>
          <a:p>
            <a:r>
              <a:rPr lang="en-US" sz="2400" dirty="0" err="1"/>
              <a:t>Sbyte</a:t>
            </a:r>
            <a:r>
              <a:rPr lang="en-US" sz="2400" dirty="0"/>
              <a:t> -   1byte</a:t>
            </a:r>
          </a:p>
          <a:p>
            <a:r>
              <a:rPr lang="en-US" sz="2400" dirty="0"/>
              <a:t>Short  - 2bytes</a:t>
            </a:r>
          </a:p>
          <a:p>
            <a:r>
              <a:rPr lang="en-US" sz="2400" dirty="0" err="1"/>
              <a:t>Ushort</a:t>
            </a:r>
            <a:r>
              <a:rPr lang="en-US" sz="2400" dirty="0"/>
              <a:t> – 2bytes</a:t>
            </a:r>
          </a:p>
          <a:p>
            <a:r>
              <a:rPr lang="en-US" sz="2400" dirty="0"/>
              <a:t>Long  - 8 bytes</a:t>
            </a:r>
          </a:p>
          <a:p>
            <a:r>
              <a:rPr lang="en-US" sz="2400" dirty="0" err="1"/>
              <a:t>Ulong</a:t>
            </a:r>
            <a:r>
              <a:rPr lang="en-US" sz="2400" dirty="0"/>
              <a:t>- </a:t>
            </a:r>
            <a:r>
              <a:rPr lang="en-US" sz="2400"/>
              <a:t>8 bytes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Input and Out Put Methods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4800" y="1112837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Out put Methods</a:t>
            </a:r>
          </a:p>
          <a:p>
            <a:pPr>
              <a:buNone/>
            </a:pPr>
            <a:r>
              <a:rPr lang="en-US" sz="2400" dirty="0"/>
              <a:t>	These methods can be used to display the statements and values inside the console App.</a:t>
            </a:r>
          </a:p>
          <a:p>
            <a:pPr>
              <a:buNone/>
            </a:pPr>
            <a:r>
              <a:rPr lang="en-US" sz="2400" dirty="0"/>
              <a:t>They are</a:t>
            </a:r>
          </a:p>
          <a:p>
            <a:pPr>
              <a:buNone/>
            </a:pPr>
            <a:r>
              <a:rPr lang="en-US" dirty="0"/>
              <a:t>	Console.WriteLine()</a:t>
            </a:r>
          </a:p>
          <a:p>
            <a:pPr>
              <a:buNone/>
            </a:pPr>
            <a:r>
              <a:rPr lang="en-US" dirty="0"/>
              <a:t>	Console.Write()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Input and Out Put Methods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Input Methods</a:t>
            </a:r>
          </a:p>
          <a:p>
            <a:pPr>
              <a:buNone/>
            </a:pPr>
            <a:r>
              <a:rPr lang="en-US" sz="2400" dirty="0"/>
              <a:t>		These are used to read values from the console.</a:t>
            </a:r>
          </a:p>
          <a:p>
            <a:pPr>
              <a:buNone/>
            </a:pPr>
            <a:r>
              <a:rPr lang="en-US" sz="2400" dirty="0"/>
              <a:t>Tyey are</a:t>
            </a:r>
          </a:p>
          <a:p>
            <a:pPr>
              <a:buNone/>
            </a:pPr>
            <a:r>
              <a:rPr lang="en-US" dirty="0"/>
              <a:t>		Console.ReadLine()</a:t>
            </a:r>
          </a:p>
          <a:p>
            <a:pPr>
              <a:buNone/>
            </a:pPr>
            <a:r>
              <a:rPr lang="en-US" dirty="0"/>
              <a:t>		Console.Read()</a:t>
            </a:r>
          </a:p>
          <a:p>
            <a:pPr>
              <a:buNone/>
            </a:pPr>
            <a:r>
              <a:rPr lang="en-US" dirty="0"/>
              <a:t>		Console.ReadKey()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 on out put methods</a:t>
            </a:r>
          </a:p>
        </p:txBody>
      </p:sp>
      <p:pic>
        <p:nvPicPr>
          <p:cNvPr id="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8600" y="1214032"/>
            <a:ext cx="8610600" cy="484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7688" y="1600610"/>
            <a:ext cx="8048625" cy="452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new program in VS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76400"/>
            <a:ext cx="36576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76800" y="1905000"/>
            <a:ext cx="3413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After Executing the project We get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out 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/>
              <a:t>Example on out put methods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 l="5609" t="17378" r="35096" b="14530"/>
          <a:stretch>
            <a:fillRect/>
          </a:stretch>
        </p:blipFill>
        <p:spPr bwMode="auto">
          <a:xfrm>
            <a:off x="381000" y="1066800"/>
            <a:ext cx="8001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077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Executing VS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76400"/>
            <a:ext cx="7924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76800" y="2401669"/>
            <a:ext cx="3413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After Executing the project We get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out 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/>
              <a:t>Example on Data Types with Out put methods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33CC"/>
                </a:solidFill>
              </a:rPr>
              <a:t>static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33CC"/>
                </a:solidFill>
              </a:rPr>
              <a:t>void</a:t>
            </a:r>
            <a:r>
              <a:rPr lang="en-US" sz="2000" dirty="0"/>
              <a:t> Main(string[] args)</a:t>
            </a:r>
          </a:p>
          <a:p>
            <a:pPr>
              <a:buNone/>
            </a:pPr>
            <a:r>
              <a:rPr lang="en-US" sz="2000" dirty="0"/>
              <a:t>        {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int</a:t>
            </a:r>
            <a:r>
              <a:rPr lang="en-US" sz="2000" dirty="0"/>
              <a:t>   a  = 10;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float</a:t>
            </a:r>
            <a:r>
              <a:rPr lang="en-US" sz="2000" dirty="0"/>
              <a:t>  x  =  4.5f;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double</a:t>
            </a:r>
            <a:r>
              <a:rPr lang="en-US" sz="2000" dirty="0"/>
              <a:t>  d  =  7.8;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string</a:t>
            </a:r>
            <a:r>
              <a:rPr lang="en-US" sz="2000" dirty="0"/>
              <a:t> s  =  "Welcome";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decimal</a:t>
            </a:r>
            <a:r>
              <a:rPr lang="en-US" sz="2000" dirty="0"/>
              <a:t>  m  =  5.6m;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           </a:t>
            </a:r>
            <a:r>
              <a:rPr lang="en-US" sz="2000" dirty="0">
                <a:solidFill>
                  <a:srgbClr val="006600"/>
                </a:solidFill>
              </a:rPr>
              <a:t> Console.</a:t>
            </a:r>
            <a:r>
              <a:rPr lang="en-US" sz="2000" dirty="0"/>
              <a:t>WriteLine("{0}   {1}     {2}     {3}  {4}",a,x,d,s,m);	            </a:t>
            </a:r>
          </a:p>
          <a:p>
            <a:pPr>
              <a:buNone/>
            </a:pPr>
            <a:r>
              <a:rPr lang="en-US" sz="2000" dirty="0"/>
              <a:t>        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Input and Out Put Methods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Input Methods</a:t>
            </a:r>
          </a:p>
          <a:p>
            <a:pPr lvl="1"/>
            <a:r>
              <a:rPr lang="en-US" dirty="0"/>
              <a:t>These are used to read values from the console.</a:t>
            </a:r>
          </a:p>
          <a:p>
            <a:pPr lvl="1"/>
            <a:r>
              <a:rPr lang="en-US" dirty="0"/>
              <a:t>Tyey are</a:t>
            </a:r>
          </a:p>
          <a:p>
            <a:pPr lvl="2"/>
            <a:r>
              <a:rPr lang="en-US" dirty="0"/>
              <a:t>Console.ReadLine()</a:t>
            </a:r>
          </a:p>
          <a:p>
            <a:pPr lvl="2"/>
            <a:r>
              <a:rPr lang="en-US" dirty="0"/>
              <a:t>Console.Read()</a:t>
            </a:r>
          </a:p>
          <a:p>
            <a:pPr lvl="2"/>
            <a:r>
              <a:rPr lang="en-US" dirty="0"/>
              <a:t>Console.ReadKey()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Input and Out Put Methods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Console.ReadLine()</a:t>
            </a:r>
          </a:p>
          <a:p>
            <a:pPr>
              <a:buNone/>
            </a:pPr>
            <a:r>
              <a:rPr lang="en-US" sz="2000" dirty="0"/>
              <a:t>		It is used to read a string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Int.Parse(Console.ReadLine())</a:t>
            </a:r>
          </a:p>
          <a:p>
            <a:pPr>
              <a:buNone/>
            </a:pPr>
            <a:r>
              <a:rPr lang="en-US" sz="2000" dirty="0"/>
              <a:t>		It is used to Read Integer Value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Float.Parse(Console.ReadLine())</a:t>
            </a:r>
          </a:p>
          <a:p>
            <a:pPr>
              <a:buNone/>
            </a:pPr>
            <a:r>
              <a:rPr lang="en-US" sz="2000" dirty="0"/>
              <a:t>		It is used to Read Float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Double.Parse(Console.ReadLine())</a:t>
            </a:r>
          </a:p>
          <a:p>
            <a:pPr>
              <a:buNone/>
            </a:pPr>
            <a:r>
              <a:rPr lang="en-US" sz="2000" dirty="0"/>
              <a:t>		It is used to Read double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Bool.Parse(Console.ReadLine())</a:t>
            </a:r>
          </a:p>
          <a:p>
            <a:pPr>
              <a:buNone/>
            </a:pPr>
            <a:r>
              <a:rPr lang="en-US" sz="2000" dirty="0"/>
              <a:t>		It is used to boolean value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Console.Read()</a:t>
            </a:r>
          </a:p>
          <a:p>
            <a:pPr>
              <a:buNone/>
            </a:pPr>
            <a:r>
              <a:rPr lang="en-US" sz="1800" dirty="0"/>
              <a:t>		</a:t>
            </a:r>
            <a:r>
              <a:rPr lang="en-US" sz="2000" dirty="0"/>
              <a:t>It used to Read ASCII Value of the given Character.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Console.ReadKey()</a:t>
            </a:r>
          </a:p>
          <a:p>
            <a:pPr>
              <a:buNone/>
            </a:pPr>
            <a:r>
              <a:rPr lang="en-US" sz="2000" dirty="0"/>
              <a:t>		It is used to read a key from the console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Reading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876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>
                <a:solidFill>
                  <a:srgbClr val="0033CC"/>
                </a:solidFill>
              </a:rPr>
              <a:t>static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33CC"/>
                </a:solidFill>
              </a:rPr>
              <a:t>void</a:t>
            </a:r>
            <a:r>
              <a:rPr lang="en-US" sz="1800" dirty="0"/>
              <a:t> Main(string[] args)</a:t>
            </a:r>
          </a:p>
          <a:p>
            <a:pPr>
              <a:buNone/>
            </a:pPr>
            <a:r>
              <a:rPr lang="en-US" sz="1800" dirty="0"/>
              <a:t>        {</a:t>
            </a:r>
          </a:p>
          <a:p>
            <a:pPr>
              <a:buNone/>
            </a:pPr>
            <a:r>
              <a:rPr lang="en-US" sz="1800" dirty="0"/>
              <a:t>            </a:t>
            </a:r>
            <a:r>
              <a:rPr lang="en-US" sz="1800" dirty="0">
                <a:solidFill>
                  <a:srgbClr val="339966"/>
                </a:solidFill>
              </a:rPr>
              <a:t>Console</a:t>
            </a:r>
            <a:r>
              <a:rPr lang="en-US" sz="1800" dirty="0"/>
              <a:t>.Write("Enter a string : ");</a:t>
            </a:r>
          </a:p>
          <a:p>
            <a:pPr>
              <a:buNone/>
            </a:pPr>
            <a:r>
              <a:rPr lang="en-US" sz="1800" dirty="0"/>
              <a:t>            string s = Console.ReadLine();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    </a:t>
            </a:r>
            <a:r>
              <a:rPr lang="en-US" sz="1800" dirty="0">
                <a:solidFill>
                  <a:srgbClr val="339966"/>
                </a:solidFill>
              </a:rPr>
              <a:t>Console</a:t>
            </a:r>
            <a:r>
              <a:rPr lang="en-US" sz="1800" dirty="0"/>
              <a:t>.Write("Enter a int value : ");</a:t>
            </a:r>
          </a:p>
          <a:p>
            <a:pPr>
              <a:buNone/>
            </a:pPr>
            <a:r>
              <a:rPr lang="en-US" sz="1800" dirty="0"/>
              <a:t>            int a = int.Parase(Console.ReadLine());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    Console.Write("Enter Float value : ");</a:t>
            </a:r>
          </a:p>
          <a:p>
            <a:pPr>
              <a:buNone/>
            </a:pPr>
            <a:r>
              <a:rPr lang="en-US" sz="1800" dirty="0"/>
              <a:t>            float f =float.Parse(Console.ReadLine());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    Console.Write("Enter double value : ");</a:t>
            </a:r>
          </a:p>
          <a:p>
            <a:pPr>
              <a:buNone/>
            </a:pPr>
            <a:r>
              <a:rPr lang="en-US" sz="1800" dirty="0"/>
              <a:t>            double d =double.parse(Console.ReadLine());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    Console.Write("Enter boolean value : ");</a:t>
            </a:r>
          </a:p>
          <a:p>
            <a:pPr>
              <a:buNone/>
            </a:pPr>
            <a:r>
              <a:rPr lang="en-US" sz="1800" dirty="0"/>
              <a:t>            bool b =bool.Parse( Console.ReadLine());</a:t>
            </a:r>
          </a:p>
          <a:p>
            <a:pPr>
              <a:buNone/>
            </a:pPr>
            <a:r>
              <a:rPr lang="en-US" sz="1800" dirty="0"/>
              <a:t>        }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/>
          <a:srcRect r="60833" b="80952"/>
          <a:stretch>
            <a:fillRect/>
          </a:stretch>
        </p:blipFill>
        <p:spPr bwMode="auto">
          <a:xfrm>
            <a:off x="4495800" y="1066800"/>
            <a:ext cx="3581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 r="59746" b="75610"/>
          <a:stretch>
            <a:fillRect/>
          </a:stretch>
        </p:blipFill>
        <p:spPr bwMode="auto">
          <a:xfrm>
            <a:off x="4495800" y="990600"/>
            <a:ext cx="3581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 r="60000" b="75610"/>
          <a:stretch>
            <a:fillRect/>
          </a:stretch>
        </p:blipFill>
        <p:spPr bwMode="auto">
          <a:xfrm>
            <a:off x="4419600" y="914400"/>
            <a:ext cx="3657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/>
          <a:srcRect r="60000" b="75609"/>
          <a:stretch>
            <a:fillRect/>
          </a:stretch>
        </p:blipFill>
        <p:spPr bwMode="auto">
          <a:xfrm>
            <a:off x="4419600" y="914400"/>
            <a:ext cx="3657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6"/>
          <a:srcRect r="58333" b="73171"/>
          <a:stretch>
            <a:fillRect/>
          </a:stretch>
        </p:blipFill>
        <p:spPr bwMode="auto">
          <a:xfrm>
            <a:off x="4343400" y="838200"/>
            <a:ext cx="3810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7"/>
          <a:srcRect r="58333" b="73171"/>
          <a:stretch>
            <a:fillRect/>
          </a:stretch>
        </p:blipFill>
        <p:spPr bwMode="auto">
          <a:xfrm>
            <a:off x="4343400" y="838200"/>
            <a:ext cx="3810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8"/>
          <a:srcRect r="58334" b="65433"/>
          <a:stretch>
            <a:fillRect/>
          </a:stretch>
        </p:blipFill>
        <p:spPr bwMode="auto">
          <a:xfrm>
            <a:off x="4343400" y="838200"/>
            <a:ext cx="3810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  <a:p>
            <a:r>
              <a:rPr lang="en-US" dirty="0"/>
              <a:t>In</a:t>
            </a:r>
          </a:p>
          <a:p>
            <a:r>
              <a:rPr lang="en-US" dirty="0"/>
              <a:t>C#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Arithmetic operators .</a:t>
            </a:r>
          </a:p>
          <a:p>
            <a:r>
              <a:rPr lang="en-US" sz="2400" dirty="0"/>
              <a:t>Relational operators(</a:t>
            </a:r>
            <a:r>
              <a:rPr lang="en-US" sz="2400"/>
              <a:t>Comaprision</a:t>
            </a:r>
            <a:r>
              <a:rPr lang="en-US" sz="2400" dirty="0"/>
              <a:t> Operator).</a:t>
            </a:r>
          </a:p>
          <a:p>
            <a:r>
              <a:rPr lang="en-US" sz="2400" dirty="0"/>
              <a:t>Logical Operators.</a:t>
            </a:r>
          </a:p>
          <a:p>
            <a:r>
              <a:rPr lang="en-US" sz="2400" dirty="0"/>
              <a:t>Assignment operators.</a:t>
            </a:r>
          </a:p>
          <a:p>
            <a:r>
              <a:rPr lang="en-US" sz="2400" dirty="0"/>
              <a:t>conditional operators.</a:t>
            </a:r>
          </a:p>
          <a:p>
            <a:r>
              <a:rPr lang="en-US" sz="2400" dirty="0"/>
              <a:t>Increment and Decrement operators.</a:t>
            </a:r>
          </a:p>
          <a:p>
            <a:r>
              <a:rPr lang="en-US" sz="2400" dirty="0"/>
              <a:t>Bitwise Operators.// home work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 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+     -&gt; add</a:t>
            </a:r>
          </a:p>
          <a:p>
            <a:r>
              <a:rPr lang="fr-FR" sz="2400" dirty="0"/>
              <a:t>-      -&gt;sub</a:t>
            </a:r>
          </a:p>
          <a:p>
            <a:r>
              <a:rPr lang="fr-FR" sz="2400" dirty="0"/>
              <a:t>*      -&gt;mul</a:t>
            </a:r>
          </a:p>
          <a:p>
            <a:r>
              <a:rPr lang="fr-FR" sz="2400" dirty="0"/>
              <a:t>/      -&gt;div--&gt;quo            5/2 ---&gt; 2</a:t>
            </a:r>
          </a:p>
          <a:p>
            <a:r>
              <a:rPr lang="fr-FR" sz="2400" dirty="0"/>
              <a:t>%     -&gt;mode-&gt;Rem      5%2 ---&gt;1 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</a:t>
            </a:r>
            <a:r>
              <a:rPr lang="en-US" sz="2400" b="1" dirty="0"/>
              <a:t>? : (Ternary Operator)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b="1" dirty="0"/>
              <a:t>con? Stmt1 : stmt2;</a:t>
            </a:r>
          </a:p>
          <a:p>
            <a:pPr>
              <a:buNone/>
            </a:pPr>
            <a:r>
              <a:rPr lang="en-US" sz="2400" dirty="0"/>
              <a:t>	con--&gt;True---&gt;stmt1 can be executed</a:t>
            </a:r>
          </a:p>
          <a:p>
            <a:pPr>
              <a:buNone/>
            </a:pPr>
            <a:r>
              <a:rPr lang="en-US" sz="2400" dirty="0"/>
              <a:t>	con---&gt;False--&gt;stmt2 can be executed	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 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solidFill>
                  <a:srgbClr val="0033CC"/>
                </a:solidFill>
              </a:rPr>
              <a:t>static void</a:t>
            </a:r>
            <a:r>
              <a:rPr lang="en-US" sz="2200" dirty="0"/>
              <a:t> Main(</a:t>
            </a:r>
            <a:r>
              <a:rPr lang="en-US" sz="2200" dirty="0">
                <a:solidFill>
                  <a:srgbClr val="0033CC"/>
                </a:solidFill>
              </a:rPr>
              <a:t>string</a:t>
            </a:r>
            <a:r>
              <a:rPr lang="en-US" sz="2200" dirty="0"/>
              <a:t>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</a:t>
            </a:r>
            <a:r>
              <a:rPr lang="en-US" sz="2200" dirty="0">
                <a:solidFill>
                  <a:srgbClr val="0033CC"/>
                </a:solidFill>
              </a:rPr>
              <a:t>int</a:t>
            </a:r>
            <a:r>
              <a:rPr lang="en-US" sz="2200" dirty="0"/>
              <a:t> a = 5;</a:t>
            </a:r>
          </a:p>
          <a:p>
            <a:pPr>
              <a:buNone/>
            </a:pPr>
            <a:r>
              <a:rPr lang="en-US" sz="2200" dirty="0"/>
              <a:t>            </a:t>
            </a:r>
            <a:r>
              <a:rPr lang="en-US" sz="2200" dirty="0">
                <a:solidFill>
                  <a:srgbClr val="0033CC"/>
                </a:solidFill>
              </a:rPr>
              <a:t>int</a:t>
            </a:r>
            <a:r>
              <a:rPr lang="en-US" sz="2200" dirty="0"/>
              <a:t> b = 2;</a:t>
            </a:r>
          </a:p>
          <a:p>
            <a:pPr>
              <a:buNone/>
            </a:pPr>
            <a:r>
              <a:rPr lang="en-US" sz="2200" dirty="0"/>
              <a:t>            Console.WriteLine("Sum:{0}",a+b);</a:t>
            </a:r>
          </a:p>
          <a:p>
            <a:pPr>
              <a:buNone/>
            </a:pPr>
            <a:r>
              <a:rPr lang="en-US" sz="2200" dirty="0"/>
              <a:t>            Console.WriteLine("Sub:{0}",a-b);</a:t>
            </a:r>
          </a:p>
          <a:p>
            <a:pPr>
              <a:buNone/>
            </a:pPr>
            <a:r>
              <a:rPr lang="en-US" sz="2200" dirty="0"/>
              <a:t>            Console.WriteLine("Mul:{0}",a*b);</a:t>
            </a:r>
          </a:p>
          <a:p>
            <a:pPr>
              <a:buNone/>
            </a:pPr>
            <a:r>
              <a:rPr lang="en-US" sz="2200" dirty="0"/>
              <a:t>            Console.WriteLine("Quo:{0}",a/b);</a:t>
            </a:r>
          </a:p>
          <a:p>
            <a:pPr>
              <a:buNone/>
            </a:pPr>
            <a:r>
              <a:rPr lang="en-US" sz="2200" dirty="0"/>
              <a:t>            Console.WriteLine("Rem:{0}",a%b);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26670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: 7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343400" y="28956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943600" y="31242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: 3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343400" y="33528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0" y="35814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Mul : 10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343400" y="38100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43600" y="40386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Quo : 2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343400" y="42672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43600" y="4419600"/>
            <a:ext cx="2057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Rem: 1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343400" y="46482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  <p:bldP spid="10" grpId="0" build="allAtOnce" animBg="1"/>
      <p:bldP spid="12" grpId="0" animBg="1"/>
      <p:bldP spid="12" grpId="1" animBg="1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Relational operators: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      &gt;    -&gt;Greter</a:t>
            </a:r>
          </a:p>
          <a:p>
            <a:pPr>
              <a:buNone/>
            </a:pPr>
            <a:r>
              <a:rPr lang="en-US" sz="2000" dirty="0"/>
              <a:t>	&lt;    -&gt;less</a:t>
            </a:r>
          </a:p>
          <a:p>
            <a:pPr>
              <a:buNone/>
            </a:pPr>
            <a:r>
              <a:rPr lang="en-US" sz="2000" dirty="0"/>
              <a:t>	&gt;=   -&gt;Greaterthan or equal</a:t>
            </a:r>
          </a:p>
          <a:p>
            <a:pPr>
              <a:buNone/>
            </a:pPr>
            <a:r>
              <a:rPr lang="en-US" sz="2000" dirty="0"/>
              <a:t>	&lt;=   -&gt;Lesserthan or equal</a:t>
            </a:r>
          </a:p>
          <a:p>
            <a:pPr>
              <a:buNone/>
            </a:pPr>
            <a:r>
              <a:rPr lang="en-US" sz="2000" dirty="0"/>
              <a:t>	==   -&gt;(comparision)</a:t>
            </a:r>
          </a:p>
          <a:p>
            <a:pPr>
              <a:buNone/>
            </a:pPr>
            <a:r>
              <a:rPr lang="en-US" sz="2000" dirty="0"/>
              <a:t>	!=   -&gt;(Not Equal)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33CC"/>
                </a:solidFill>
              </a:rPr>
              <a:t>static void</a:t>
            </a:r>
            <a:r>
              <a:rPr lang="en-US" sz="2000" dirty="0"/>
              <a:t> Main(</a:t>
            </a:r>
            <a:r>
              <a:rPr lang="en-US" sz="2000" dirty="0">
                <a:solidFill>
                  <a:srgbClr val="0033CC"/>
                </a:solidFill>
              </a:rPr>
              <a:t>string</a:t>
            </a:r>
            <a:r>
              <a:rPr lang="en-US" sz="2000" dirty="0"/>
              <a:t>[] args)</a:t>
            </a:r>
          </a:p>
          <a:p>
            <a:pPr>
              <a:buNone/>
            </a:pPr>
            <a:r>
              <a:rPr lang="en-US" sz="2000" dirty="0"/>
              <a:t>        {</a:t>
            </a:r>
          </a:p>
          <a:p>
            <a:pPr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int</a:t>
            </a:r>
            <a:r>
              <a:rPr lang="en-US" sz="2000" dirty="0"/>
              <a:t> a = 5;</a:t>
            </a:r>
          </a:p>
          <a:p>
            <a:pPr>
              <a:buNone/>
            </a:pPr>
            <a:r>
              <a:rPr lang="en-US" sz="2000" dirty="0"/>
              <a:t>            </a:t>
            </a:r>
            <a:r>
              <a:rPr lang="en-US" sz="2000" dirty="0">
                <a:solidFill>
                  <a:srgbClr val="0033CC"/>
                </a:solidFill>
              </a:rPr>
              <a:t>int</a:t>
            </a:r>
            <a:r>
              <a:rPr lang="en-US" sz="2000" dirty="0"/>
              <a:t> b = 2;</a:t>
            </a:r>
          </a:p>
          <a:p>
            <a:pPr>
              <a:buNone/>
            </a:pPr>
            <a:r>
              <a:rPr lang="it-IT" sz="2000" dirty="0"/>
              <a:t>	      Console.WriteLine("a &gt;  b : {0}", a &gt; b); </a:t>
            </a:r>
          </a:p>
          <a:p>
            <a:pPr>
              <a:buNone/>
            </a:pPr>
            <a:r>
              <a:rPr lang="it-IT" sz="2000" dirty="0"/>
              <a:t>            Console.WriteLine("a &gt;= b : {0}", a &gt;= b);</a:t>
            </a:r>
          </a:p>
          <a:p>
            <a:pPr>
              <a:buNone/>
            </a:pPr>
            <a:r>
              <a:rPr lang="it-IT" sz="2000" dirty="0"/>
              <a:t>            Console.WriteLine("a &lt;  b : {0}", a &lt; b);</a:t>
            </a:r>
          </a:p>
          <a:p>
            <a:pPr>
              <a:buNone/>
            </a:pPr>
            <a:r>
              <a:rPr lang="it-IT" sz="2000" dirty="0"/>
              <a:t>            Console.WriteLine("a &lt;= b : {0}", a &lt;= b);</a:t>
            </a:r>
          </a:p>
          <a:p>
            <a:pPr>
              <a:buNone/>
            </a:pPr>
            <a:r>
              <a:rPr lang="it-IT" sz="2000" dirty="0"/>
              <a:t>            Console.WriteLine("a == b : {0}", a == b);</a:t>
            </a:r>
          </a:p>
          <a:p>
            <a:pPr>
              <a:buNone/>
            </a:pPr>
            <a:r>
              <a:rPr lang="it-IT" sz="2000" dirty="0"/>
              <a:t>            Console.WriteLine("a != b : {0}", a != b);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        }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181600" y="28194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53200" y="2590800"/>
            <a:ext cx="16002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&gt; b:True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257800" y="3122612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629400" y="2971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 &gt;= b :True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257800" y="35052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629400" y="3352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&lt; b : False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257800" y="38862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629400" y="3733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&lt;= b : False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257800" y="42672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629400" y="4114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== b : False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257800" y="46482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629400" y="4495800"/>
            <a:ext cx="15240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 != b :True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715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800" dirty="0"/>
              <a:t>&amp;&amp;- --&gt; and</a:t>
            </a:r>
          </a:p>
          <a:p>
            <a:pPr>
              <a:buNone/>
            </a:pPr>
            <a:r>
              <a:rPr lang="en-US" sz="2800" dirty="0"/>
              <a:t>|| ---&gt; or</a:t>
            </a:r>
          </a:p>
          <a:p>
            <a:pPr>
              <a:buNone/>
            </a:pPr>
            <a:r>
              <a:rPr lang="en-US" sz="2800" dirty="0"/>
              <a:t>!   ---&gt; not</a:t>
            </a:r>
          </a:p>
          <a:p>
            <a:pPr>
              <a:buNone/>
            </a:pPr>
            <a:r>
              <a:rPr lang="en-US" sz="2800" dirty="0"/>
              <a:t>con1	con2       con1 &amp;&amp; con2		</a:t>
            </a:r>
          </a:p>
          <a:p>
            <a:pPr>
              <a:buNone/>
            </a:pPr>
            <a:r>
              <a:rPr lang="en-US" sz="2800" dirty="0"/>
              <a:t>true	true	     true		  	</a:t>
            </a:r>
          </a:p>
          <a:p>
            <a:pPr>
              <a:buNone/>
            </a:pPr>
            <a:r>
              <a:rPr lang="en-US" sz="2800" dirty="0"/>
              <a:t>true	false	     false		  	</a:t>
            </a:r>
          </a:p>
          <a:p>
            <a:pPr>
              <a:buNone/>
            </a:pPr>
            <a:r>
              <a:rPr lang="en-US" sz="2800" dirty="0"/>
              <a:t>false	true	     false		   	</a:t>
            </a:r>
          </a:p>
          <a:p>
            <a:pPr>
              <a:buNone/>
            </a:pPr>
            <a:r>
              <a:rPr lang="en-US" sz="2800" dirty="0"/>
              <a:t>false	false	    false		   	</a:t>
            </a:r>
          </a:p>
          <a:p>
            <a:pPr>
              <a:buNone/>
            </a:pPr>
            <a:r>
              <a:rPr lang="en-US" sz="2800" dirty="0"/>
              <a:t>con1	con2	con1 || con2</a:t>
            </a:r>
          </a:p>
          <a:p>
            <a:pPr>
              <a:buNone/>
            </a:pPr>
            <a:r>
              <a:rPr lang="en-US" sz="2800" dirty="0"/>
              <a:t> true	 true	     true</a:t>
            </a:r>
          </a:p>
          <a:p>
            <a:pPr>
              <a:buNone/>
            </a:pPr>
            <a:r>
              <a:rPr lang="en-US" sz="2800" dirty="0"/>
              <a:t> true	false	     true</a:t>
            </a:r>
          </a:p>
          <a:p>
            <a:pPr>
              <a:buNone/>
            </a:pPr>
            <a:r>
              <a:rPr lang="en-US" sz="2800" dirty="0"/>
              <a:t>false	true	     true</a:t>
            </a:r>
          </a:p>
          <a:p>
            <a:pPr>
              <a:buNone/>
            </a:pPr>
            <a:r>
              <a:rPr lang="en-US" sz="2800" dirty="0"/>
              <a:t>false	false	     false</a:t>
            </a:r>
          </a:p>
          <a:p>
            <a:pPr>
              <a:buNone/>
            </a:pPr>
            <a:r>
              <a:rPr lang="en-US" sz="2800" dirty="0"/>
              <a:t>con      !con</a:t>
            </a:r>
          </a:p>
          <a:p>
            <a:pPr>
              <a:buNone/>
            </a:pPr>
            <a:r>
              <a:rPr lang="en-US" sz="2800" dirty="0"/>
              <a:t>true      false</a:t>
            </a:r>
          </a:p>
          <a:p>
            <a:pPr>
              <a:buNone/>
            </a:pPr>
            <a:r>
              <a:rPr lang="en-US" sz="2800" dirty="0"/>
              <a:t>false    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2057400"/>
            <a:ext cx="3962400" cy="16002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04800" y="3733800"/>
            <a:ext cx="3962400" cy="1524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4800" y="5334000"/>
            <a:ext cx="3962400" cy="9906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04800" y="914400"/>
            <a:ext cx="39624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=         Assignment operator</a:t>
            </a:r>
          </a:p>
          <a:p>
            <a:pPr>
              <a:buNone/>
            </a:pPr>
            <a:r>
              <a:rPr lang="en-US" sz="2400" dirty="0"/>
              <a:t>	+=        Additive Assignment </a:t>
            </a:r>
          </a:p>
          <a:p>
            <a:pPr>
              <a:buNone/>
            </a:pPr>
            <a:r>
              <a:rPr lang="en-US" sz="2400" dirty="0"/>
              <a:t>	-=        Subtractive Assignment</a:t>
            </a:r>
          </a:p>
          <a:p>
            <a:pPr>
              <a:buNone/>
            </a:pPr>
            <a:r>
              <a:rPr lang="en-US" sz="2400" dirty="0"/>
              <a:t>	*=	     Multiplicative Assignment</a:t>
            </a:r>
          </a:p>
          <a:p>
            <a:pPr>
              <a:buNone/>
            </a:pPr>
            <a:r>
              <a:rPr lang="en-US" sz="2400" dirty="0"/>
              <a:t>	/=	     Division Assignment</a:t>
            </a:r>
          </a:p>
          <a:p>
            <a:pPr>
              <a:buNone/>
            </a:pPr>
            <a:r>
              <a:rPr lang="en-US" sz="2400" dirty="0"/>
              <a:t>	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Assignment Operators program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0033CC"/>
                </a:solidFill>
              </a:rPr>
              <a:t>static void</a:t>
            </a:r>
            <a:r>
              <a:rPr lang="en-US" dirty="0"/>
              <a:t> Main(</a:t>
            </a:r>
            <a:r>
              <a:rPr lang="en-US" dirty="0">
                <a:solidFill>
                  <a:srgbClr val="0033CC"/>
                </a:solidFill>
              </a:rPr>
              <a:t>string</a:t>
            </a:r>
            <a:r>
              <a:rPr lang="en-US" dirty="0"/>
              <a:t>[] args)</a:t>
            </a:r>
          </a:p>
          <a:p>
            <a:pPr>
              <a:buNone/>
            </a:pPr>
            <a:r>
              <a:rPr lang="en-US" dirty="0"/>
              <a:t>        {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>
                <a:solidFill>
                  <a:srgbClr val="0033CC"/>
                </a:solidFill>
              </a:rPr>
              <a:t>int</a:t>
            </a:r>
            <a:r>
              <a:rPr lang="en-US" dirty="0"/>
              <a:t> a = 10;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>
                <a:solidFill>
                  <a:srgbClr val="0033CC"/>
                </a:solidFill>
              </a:rPr>
              <a:t>int</a:t>
            </a:r>
            <a:r>
              <a:rPr lang="en-US" dirty="0"/>
              <a:t> b = 20;</a:t>
            </a:r>
          </a:p>
          <a:p>
            <a:pPr>
              <a:buNone/>
            </a:pPr>
            <a:r>
              <a:rPr lang="it-IT" dirty="0"/>
              <a:t>	      </a:t>
            </a:r>
            <a:r>
              <a:rPr lang="en-US" dirty="0"/>
              <a:t>Console.WriteLine("a = {0}",a);</a:t>
            </a:r>
          </a:p>
          <a:p>
            <a:pPr>
              <a:buNone/>
            </a:pPr>
            <a:r>
              <a:rPr lang="en-US" dirty="0"/>
              <a:t>            a += b;           // a = a+b</a:t>
            </a:r>
          </a:p>
          <a:p>
            <a:pPr>
              <a:buNone/>
            </a:pPr>
            <a:r>
              <a:rPr lang="en-US" dirty="0"/>
              <a:t>            Console.WriteLine("a = {0}", a);</a:t>
            </a:r>
          </a:p>
          <a:p>
            <a:pPr>
              <a:buNone/>
            </a:pPr>
            <a:r>
              <a:rPr lang="en-US" dirty="0"/>
              <a:t>            a -= b;</a:t>
            </a:r>
          </a:p>
          <a:p>
            <a:pPr>
              <a:buNone/>
            </a:pPr>
            <a:r>
              <a:rPr lang="en-US" dirty="0"/>
              <a:t>            Console.WriteLine("a = {0}", a);</a:t>
            </a:r>
          </a:p>
          <a:p>
            <a:pPr>
              <a:buNone/>
            </a:pPr>
            <a:r>
              <a:rPr lang="en-US" dirty="0"/>
              <a:t>            a *= b;</a:t>
            </a:r>
          </a:p>
          <a:p>
            <a:pPr>
              <a:buNone/>
            </a:pPr>
            <a:r>
              <a:rPr lang="en-US" dirty="0"/>
              <a:t>            Console.WriteLine("a = {0}", a);</a:t>
            </a:r>
          </a:p>
          <a:p>
            <a:pPr>
              <a:buNone/>
            </a:pPr>
            <a:r>
              <a:rPr lang="en-US" dirty="0"/>
              <a:t>            a /= b;</a:t>
            </a:r>
          </a:p>
          <a:p>
            <a:pPr>
              <a:buNone/>
            </a:pPr>
            <a:r>
              <a:rPr lang="en-US" dirty="0"/>
              <a:t>            Console.WriteLine("a = {0}", a);</a:t>
            </a:r>
          </a:p>
          <a:p>
            <a:pPr>
              <a:buNone/>
            </a:pPr>
            <a:r>
              <a:rPr lang="en-US" dirty="0"/>
              <a:t>      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819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3528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962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5720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105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Assignment operators:</a:t>
            </a: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264" y="1143000"/>
            <a:ext cx="8305272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Conditional Operators program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33CC"/>
                </a:solidFill>
              </a:rPr>
              <a:t>static void</a:t>
            </a:r>
            <a:r>
              <a:rPr lang="en-US" dirty="0"/>
              <a:t> Main(</a:t>
            </a:r>
            <a:r>
              <a:rPr lang="en-US" dirty="0">
                <a:solidFill>
                  <a:srgbClr val="0033CC"/>
                </a:solidFill>
              </a:rPr>
              <a:t>string</a:t>
            </a:r>
            <a:r>
              <a:rPr lang="en-US" dirty="0"/>
              <a:t>[] args)</a:t>
            </a:r>
          </a:p>
          <a:p>
            <a:pPr>
              <a:buNone/>
            </a:pPr>
            <a:r>
              <a:rPr lang="en-US" dirty="0"/>
              <a:t>        {</a:t>
            </a:r>
          </a:p>
          <a:p>
            <a:pPr>
              <a:buNone/>
            </a:pPr>
            <a:r>
              <a:rPr lang="en-US" sz="2400" dirty="0"/>
              <a:t>            bool con = </a:t>
            </a:r>
            <a:r>
              <a:rPr lang="en-US" sz="2400" dirty="0">
                <a:solidFill>
                  <a:srgbClr val="0033CC"/>
                </a:solidFill>
              </a:rPr>
              <a:t>true</a:t>
            </a:r>
            <a:r>
              <a:rPr lang="en-US" sz="2400" dirty="0"/>
              <a:t>;</a:t>
            </a:r>
          </a:p>
          <a:p>
            <a:pPr>
              <a:buNone/>
            </a:pPr>
            <a:r>
              <a:rPr lang="en-US" sz="2400" dirty="0"/>
              <a:t>            Console.WriteLine(con?"Hi":"Bye");</a:t>
            </a:r>
            <a:endParaRPr lang="en-US" dirty="0"/>
          </a:p>
          <a:p>
            <a:pPr>
              <a:buNone/>
            </a:pPr>
            <a:r>
              <a:rPr lang="en-US" dirty="0"/>
              <a:t>      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5867400" y="2438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Conditional operators:</a:t>
            </a:r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264" y="1143000"/>
            <a:ext cx="8305272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Conditional Operators program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33CC"/>
                </a:solidFill>
              </a:rPr>
              <a:t>static void</a:t>
            </a:r>
            <a:r>
              <a:rPr lang="en-US" dirty="0"/>
              <a:t> Main(</a:t>
            </a:r>
            <a:r>
              <a:rPr lang="en-US" dirty="0">
                <a:solidFill>
                  <a:srgbClr val="0033CC"/>
                </a:solidFill>
              </a:rPr>
              <a:t>string</a:t>
            </a:r>
            <a:r>
              <a:rPr lang="en-US" dirty="0"/>
              <a:t>[] args)</a:t>
            </a:r>
          </a:p>
          <a:p>
            <a:pPr>
              <a:buNone/>
            </a:pPr>
            <a:r>
              <a:rPr lang="en-US" dirty="0"/>
              <a:t>        {</a:t>
            </a:r>
          </a:p>
          <a:p>
            <a:pPr>
              <a:buNone/>
            </a:pPr>
            <a:r>
              <a:rPr lang="en-US" sz="2400" dirty="0"/>
              <a:t>            bool con = </a:t>
            </a:r>
            <a:r>
              <a:rPr lang="en-US" sz="2400" dirty="0">
                <a:solidFill>
                  <a:srgbClr val="0033CC"/>
                </a:solidFill>
              </a:rPr>
              <a:t>false</a:t>
            </a:r>
            <a:r>
              <a:rPr lang="en-US" sz="2400" dirty="0"/>
              <a:t>;</a:t>
            </a:r>
          </a:p>
          <a:p>
            <a:pPr>
              <a:buNone/>
            </a:pPr>
            <a:r>
              <a:rPr lang="en-US" sz="2400" dirty="0"/>
              <a:t>            Console.WriteLine(con?"Hi":"Bye");</a:t>
            </a:r>
            <a:endParaRPr lang="en-US" dirty="0"/>
          </a:p>
          <a:p>
            <a:pPr>
              <a:buNone/>
            </a:pPr>
            <a:r>
              <a:rPr lang="en-US" dirty="0"/>
              <a:t>      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2438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Bye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Conditional operators: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264" y="1143000"/>
            <a:ext cx="8305272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++  Increment Operator</a:t>
            </a:r>
          </a:p>
          <a:p>
            <a:pPr>
              <a:buNone/>
            </a:pPr>
            <a:r>
              <a:rPr lang="en-US" sz="2400" dirty="0"/>
              <a:t>	--    Decrement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Increment and Decrement Operators program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33CC"/>
                </a:solidFill>
              </a:rPr>
              <a:t>static void</a:t>
            </a:r>
            <a:r>
              <a:rPr lang="en-US" sz="2400" dirty="0"/>
              <a:t> Main(</a:t>
            </a:r>
            <a:r>
              <a:rPr lang="en-US" sz="2400" dirty="0">
                <a:solidFill>
                  <a:srgbClr val="0033CC"/>
                </a:solidFill>
              </a:rPr>
              <a:t>string</a:t>
            </a:r>
            <a:r>
              <a:rPr lang="en-US" sz="2400" dirty="0"/>
              <a:t>[] args)</a:t>
            </a:r>
          </a:p>
          <a:p>
            <a:pPr>
              <a:buNone/>
            </a:pPr>
            <a:r>
              <a:rPr lang="en-US" sz="2400" dirty="0"/>
              <a:t>        {</a:t>
            </a:r>
          </a:p>
          <a:p>
            <a:pPr>
              <a:buNone/>
            </a:pPr>
            <a:r>
              <a:rPr lang="en-US" sz="2400" dirty="0"/>
              <a:t>            </a:t>
            </a:r>
            <a:r>
              <a:rPr lang="en-US" sz="2400" dirty="0">
                <a:solidFill>
                  <a:srgbClr val="0033CC"/>
                </a:solidFill>
              </a:rPr>
              <a:t>int</a:t>
            </a:r>
            <a:r>
              <a:rPr lang="en-US" sz="2400" dirty="0"/>
              <a:t> a = 10;</a:t>
            </a:r>
          </a:p>
          <a:p>
            <a:pPr>
              <a:buNone/>
            </a:pPr>
            <a:r>
              <a:rPr lang="en-US" sz="2400" dirty="0"/>
              <a:t>            </a:t>
            </a:r>
            <a:r>
              <a:rPr lang="en-US" sz="2400" dirty="0">
                <a:solidFill>
                  <a:srgbClr val="0033CC"/>
                </a:solidFill>
              </a:rPr>
              <a:t>int</a:t>
            </a:r>
            <a:r>
              <a:rPr lang="en-US" sz="2400" dirty="0"/>
              <a:t> b = 20;</a:t>
            </a:r>
          </a:p>
          <a:p>
            <a:pPr>
              <a:buNone/>
            </a:pPr>
            <a:r>
              <a:rPr lang="it-IT" sz="2400" dirty="0"/>
              <a:t>	      </a:t>
            </a:r>
            <a:r>
              <a:rPr lang="en-US" sz="2400" dirty="0"/>
              <a:t>Console.WriteLine("a = {0}",a++);  // Post Increment</a:t>
            </a:r>
          </a:p>
          <a:p>
            <a:pPr>
              <a:buNone/>
            </a:pPr>
            <a:r>
              <a:rPr lang="en-US" sz="2400" dirty="0"/>
              <a:t>           Console.WriteLine("a = {0}", a);</a:t>
            </a:r>
          </a:p>
          <a:p>
            <a:pPr>
              <a:buNone/>
            </a:pPr>
            <a:r>
              <a:rPr lang="en-US" sz="2400" dirty="0"/>
              <a:t>	     Console.WriteLine(“b = {0}", ++b); // Pre Increment</a:t>
            </a:r>
          </a:p>
          <a:p>
            <a:pPr>
              <a:buNone/>
            </a:pPr>
            <a:r>
              <a:rPr lang="en-US" sz="2400" dirty="0"/>
              <a:t>          Console.WriteLine(“b = {0}", b); </a:t>
            </a:r>
          </a:p>
          <a:p>
            <a:pPr>
              <a:buNone/>
            </a:pPr>
            <a:r>
              <a:rPr lang="en-US" sz="2400" dirty="0"/>
              <a:t>  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28956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34290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38862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4343400"/>
            <a:ext cx="16764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= 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Increment decrement operators: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264" y="1143000"/>
            <a:ext cx="8305272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>
          <a:solidFill>
            <a:srgbClr val="FF0000"/>
          </a:solidFill>
          <a:prstDash val="dash"/>
          <a:round/>
        </a:ln>
        <a:effectLst>
          <a:glow rad="101600">
            <a:schemeClr val="accent3">
              <a:satMod val="175000"/>
              <a:alpha val="40000"/>
            </a:schemeClr>
          </a:glow>
        </a:effectLst>
      </a:spPr>
      <a:bodyPr wrap="none" anchor="ctr"/>
      <a:lstStyle>
        <a:defPPr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2073</Words>
  <Application>Microsoft Office PowerPoint</Application>
  <PresentationFormat>On-screen Show (4:3)</PresentationFormat>
  <Paragraphs>402</Paragraphs>
  <Slides>56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Wingdings</vt:lpstr>
      <vt:lpstr>1_Office Theme</vt:lpstr>
      <vt:lpstr>C# .NET</vt:lpstr>
      <vt:lpstr>C# Introduction</vt:lpstr>
      <vt:lpstr>Keywords</vt:lpstr>
      <vt:lpstr>Data Types keywords</vt:lpstr>
      <vt:lpstr>Class and Object Keywords</vt:lpstr>
      <vt:lpstr>Method and Property Keywords</vt:lpstr>
      <vt:lpstr>Exception Handling Keywords </vt:lpstr>
      <vt:lpstr>Namespaces</vt:lpstr>
      <vt:lpstr>Control Flow Keywords</vt:lpstr>
      <vt:lpstr>Type Conversion Keywords</vt:lpstr>
      <vt:lpstr>Identifiers</vt:lpstr>
      <vt:lpstr>Name conventions</vt:lpstr>
      <vt:lpstr>Pascal Case Naming Convention</vt:lpstr>
      <vt:lpstr>Camel Case and Snake Case Naming convention</vt:lpstr>
      <vt:lpstr>C# Program Structure</vt:lpstr>
      <vt:lpstr>Structure Definitions</vt:lpstr>
      <vt:lpstr>C# Program Structure</vt:lpstr>
      <vt:lpstr>How to develop a program in C#?</vt:lpstr>
      <vt:lpstr>Visual Studio Introduction</vt:lpstr>
      <vt:lpstr>Creating new project in VS</vt:lpstr>
      <vt:lpstr>Creating new project in VS</vt:lpstr>
      <vt:lpstr>Creating new project in VS</vt:lpstr>
      <vt:lpstr>Creating new project in VS</vt:lpstr>
      <vt:lpstr>Coding new program in VS</vt:lpstr>
      <vt:lpstr>Coding new program in VS</vt:lpstr>
      <vt:lpstr>Coding new program in VS</vt:lpstr>
      <vt:lpstr>Coding new program in VS</vt:lpstr>
      <vt:lpstr>Data Types in C#</vt:lpstr>
      <vt:lpstr>Input and Out Put Methods</vt:lpstr>
      <vt:lpstr>Input and Out Put Methods</vt:lpstr>
      <vt:lpstr>Example on out put methods</vt:lpstr>
      <vt:lpstr>Coding new program in VS</vt:lpstr>
      <vt:lpstr>Example on out put methods</vt:lpstr>
      <vt:lpstr>After Executing VS</vt:lpstr>
      <vt:lpstr>Example on Data Types with Out put methods</vt:lpstr>
      <vt:lpstr>Input and Out Put Methods</vt:lpstr>
      <vt:lpstr>Input and Out Put Methods</vt:lpstr>
      <vt:lpstr>Reading values</vt:lpstr>
      <vt:lpstr>Operators</vt:lpstr>
      <vt:lpstr>Operators in C#</vt:lpstr>
      <vt:lpstr>Arithmetic operators .</vt:lpstr>
      <vt:lpstr>Conditional operators</vt:lpstr>
      <vt:lpstr>Arithmetic operators .</vt:lpstr>
      <vt:lpstr>Relational operators:</vt:lpstr>
      <vt:lpstr>Relational operators</vt:lpstr>
      <vt:lpstr>Logical Operators</vt:lpstr>
      <vt:lpstr>Assignment operators</vt:lpstr>
      <vt:lpstr>Assignment Operators program</vt:lpstr>
      <vt:lpstr>Assignment operators:</vt:lpstr>
      <vt:lpstr>Conditional Operators program</vt:lpstr>
      <vt:lpstr>Conditional operators:</vt:lpstr>
      <vt:lpstr>Conditional Operators program</vt:lpstr>
      <vt:lpstr>Conditional operators:</vt:lpstr>
      <vt:lpstr>Increment and Decrement operators</vt:lpstr>
      <vt:lpstr>Increment and Decrement Operators program</vt:lpstr>
      <vt:lpstr>Increment decrement operators: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.NET</dc:title>
  <dc:creator>Skoda</dc:creator>
  <cp:lastModifiedBy>arunkumar allam</cp:lastModifiedBy>
  <cp:revision>148</cp:revision>
  <dcterms:created xsi:type="dcterms:W3CDTF">2019-09-12T05:41:00Z</dcterms:created>
  <dcterms:modified xsi:type="dcterms:W3CDTF">2026-06-12T06:28:52Z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30EE061020D9411EA62ED4A6622A23FF</vt:lpwstr>
  </property>
  <property fmtid="{D5CDD505-2E9C-101B-9397-08002B2CF9AE}" pid="3" name="KSOProductBuildVer">
    <vt:lpwstr>1033-11.2.0.11417</vt:lpwstr>
  </property>
</Properties>
</file>